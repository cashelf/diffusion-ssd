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0B1F3A"/>
                </a:solidFill>
              </a:defRPr>
            </a:pPr>
            <a:r>
              <a:t>Diffusion Drafters for Speculative Squared Decoding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3886200"/>
            <a:ext cx="1371600" cy="91440"/>
          </a:xfrm>
          <a:prstGeom prst="rect">
            <a:avLst/>
          </a:prstGeom>
          <a:solidFill>
            <a:srgbClr val="C81D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444444"/>
                </a:solidFill>
              </a:defRPr>
            </a:pPr>
            <a:r>
              <a:t>Parallelizing the draft model to accelerate large language model inference</a:t>
            </a:r>
          </a:p>
          <a:p>
            <a:pPr>
              <a:spcBef>
                <a:spcPts val="1200"/>
              </a:spcBef>
              <a:defRPr sz="1800">
                <a:solidFill>
                  <a:srgbClr val="AAAAAA"/>
                </a:solidFill>
              </a:defRPr>
            </a:pPr>
            <a:r>
              <a:t>CS5788 Generative Models, Cornell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B1F3A"/>
                </a:solidFill>
              </a:defRPr>
            </a:pPr>
            <a:r>
              <a:t>Problem: LLM inference is bottlenecked by autoregressive decoding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73152"/>
          </a:xfrm>
          <a:prstGeom prst="rect">
            <a:avLst/>
          </a:prstGeom>
          <a:solidFill>
            <a:srgbClr val="C81D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444444"/>
                </a:solidFill>
              </a:defRPr>
            </a:pPr>
            <a:r>
              <a:t>Large LLMs generate one token at a time. Each token requires a full forward pass over billions of parameters.</a:t>
            </a:r>
          </a:p>
          <a:p>
            <a:pPr>
              <a:spcAft>
                <a:spcPts val="800"/>
              </a:spcAft>
              <a:defRPr sz="2200">
                <a:solidFill>
                  <a:srgbClr val="444444"/>
                </a:solidFill>
              </a:defRPr>
            </a:pPr>
            <a:r>
              <a:t>Speculative decoding (SD) speeds this up using two models: a small fast draft model proposes k candidate tokens, and the large target model verifies them.</a:t>
            </a:r>
          </a:p>
          <a:p>
            <a:pPr>
              <a:spcAft>
                <a:spcPts val="800"/>
              </a:spcAft>
              <a:defRPr sz="2200">
                <a:solidFill>
                  <a:srgbClr val="444444"/>
                </a:solidFill>
              </a:defRPr>
            </a:pPr>
            <a:r>
              <a:t>Why verification is fast: the target model runs all k draft tokens through one forward pass in parallel, comparing its own predicted distribution at each position to the drafter’s. Tokens are accepted up to the first mismatch.</a:t>
            </a:r>
          </a:p>
          <a:p>
            <a:pPr>
              <a:spcAft>
                <a:spcPts val="800"/>
              </a:spcAft>
              <a:defRPr sz="2200">
                <a:solidFill>
                  <a:srgbClr val="444444"/>
                </a:solidFill>
              </a:defRPr>
            </a:pPr>
            <a:r>
              <a:t>Result: instead of k sequential forward passes through the large model, you pay roughly one large pass per accepted run of tokens.</a:t>
            </a:r>
          </a:p>
          <a:p>
            <a:pPr>
              <a:spcAft>
                <a:spcPts val="800"/>
              </a:spcAft>
              <a:defRPr sz="2200">
                <a:solidFill>
                  <a:srgbClr val="444444"/>
                </a:solidFill>
              </a:defRPr>
            </a:pPr>
            <a:r>
              <a:t>But standard SD is still sequential overall. Drafting and verification alternate on the same hardware, so each is idle while the other runs.</a:t>
            </a:r>
          </a:p>
          <a:p>
            <a:pPr>
              <a:spcAft>
                <a:spcPts val="800"/>
              </a:spcAft>
              <a:defRPr sz="2200">
                <a:solidFill>
                  <a:srgbClr val="444444"/>
                </a:solidFill>
              </a:defRPr>
            </a:pPr>
            <a:r>
              <a:t>Speculative Squared Decoding (SSD) overlaps drafting and verification on separate hardware by pre‐speculating over the tree of likely verifier outcomes.</a:t>
            </a:r>
          </a:p>
          <a:p>
            <a:pPr>
              <a:spcAft>
                <a:spcPts val="800"/>
              </a:spcAft>
              <a:defRPr sz="2200">
                <a:solidFill>
                  <a:srgbClr val="444444"/>
                </a:solidFill>
              </a:defRPr>
            </a:pPr>
            <a:r>
              <a:t>Remaining bottleneck: the draft model is itself autoregressive, so generating each draft is a sequential, k‐step process.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B1F3A"/>
                </a:solidFill>
              </a:defRPr>
            </a:pPr>
            <a:r>
              <a:t>Goal: replace the autoregressive drafter with a diffusion drafter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73152"/>
          </a:xfrm>
          <a:prstGeom prst="rect">
            <a:avLst/>
          </a:prstGeom>
          <a:solidFill>
            <a:srgbClr val="C81D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444444"/>
                </a:solidFill>
              </a:defRPr>
            </a:pPr>
            <a:r>
              <a:t>Main task: SSD with an autoregressive verifier and a diffusion draft model.</a:t>
            </a:r>
          </a:p>
          <a:p>
            <a:pPr>
              <a:spcAft>
                <a:spcPts val="800"/>
              </a:spcAft>
              <a:defRPr sz="2200">
                <a:solidFill>
                  <a:srgbClr val="444444"/>
                </a:solidFill>
              </a:defRPr>
            </a:pPr>
            <a:r>
              <a:t>Diffusion language models (MDLM, BD3‐LM) generate all k draft tokens in parallel rather than left to right.</a:t>
            </a:r>
          </a:p>
          <a:p>
            <a:pPr>
              <a:spcAft>
                <a:spcPts val="800"/>
              </a:spcAft>
              <a:defRPr sz="2200">
                <a:solidFill>
                  <a:srgbClr val="444444"/>
                </a:solidFill>
              </a:defRPr>
            </a:pPr>
            <a:r>
              <a:t>Hypothesis: parallel drafting cuts draft latency, increases the speculation cache size SSD can maintain, and raises end‐to‐end throughput.</a:t>
            </a:r>
          </a:p>
          <a:p>
            <a:pPr>
              <a:spcAft>
                <a:spcPts val="800"/>
              </a:spcAft>
              <a:defRPr sz="2200">
                <a:solidFill>
                  <a:srgbClr val="444444"/>
                </a:solidFill>
              </a:defRPr>
            </a:pPr>
            <a:r>
              <a:t>Extension: SSD with a block‐diffusion verifier and a diffusion drafter, parallelizing both sides.</a:t>
            </a:r>
          </a:p>
          <a:p>
            <a:pPr>
              <a:spcAft>
                <a:spcPts val="800"/>
              </a:spcAft>
              <a:defRPr sz="2200">
                <a:solidFill>
                  <a:srgbClr val="444444"/>
                </a:solidFill>
              </a:defRPr>
            </a:pPr>
            <a:r>
              <a:t>Success metric: tokens per second and draft acceptance rate on humaneval, alpaca, gsm8k, and ultrafeedback compared to the AR‐drafter SSD baseline.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B1F3A"/>
                </a:solidFill>
              </a:defRPr>
            </a:pPr>
            <a:r>
              <a:t>Approach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73152"/>
          </a:xfrm>
          <a:prstGeom prst="rect">
            <a:avLst/>
          </a:prstGeom>
          <a:solidFill>
            <a:srgbClr val="C81D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444444"/>
                </a:solidFill>
              </a:defRPr>
            </a:pPr>
            <a:r>
              <a:t>Start from the SSD inference algorithm of Kumar, Dao, May (ICLR 2026) as the baseline.</a:t>
            </a:r>
          </a:p>
          <a:p>
            <a:pPr>
              <a:spcAft>
                <a:spcPts val="800"/>
              </a:spcAft>
              <a:defRPr sz="2200">
                <a:solidFill>
                  <a:srgbClr val="444444"/>
                </a:solidFill>
              </a:defRPr>
            </a:pPr>
            <a:r>
              <a:t>Swap the autoregressive draft model for a diffusion language model that produces all k draft tokens in a single parallel pass.</a:t>
            </a:r>
          </a:p>
          <a:p>
            <a:pPr>
              <a:spcAft>
                <a:spcPts val="800"/>
              </a:spcAft>
              <a:defRPr sz="2200">
                <a:solidFill>
                  <a:srgbClr val="444444"/>
                </a:solidFill>
              </a:defRPr>
            </a:pPr>
            <a:r>
              <a:t>Two diffusion sampling strategies:</a:t>
            </a:r>
          </a:p>
          <a:p>
            <a:pPr lvl="1"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Remask sampler with a configurable number of refinement steps.</a:t>
            </a:r>
          </a:p>
          <a:p>
            <a:pPr lvl="1"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BD3‐LM staircase sampler with cached prefix reuse for streaming generation.</a:t>
            </a:r>
          </a:p>
          <a:p>
            <a:pPr>
              <a:spcAft>
                <a:spcPts val="800"/>
              </a:spcAft>
              <a:defRPr sz="2200">
                <a:solidFill>
                  <a:srgbClr val="444444"/>
                </a:solidFill>
              </a:defRPr>
            </a:pPr>
            <a:r>
              <a:t>Optional autoregressive warm start: prefill the first N draft tokens with a small AR model, then hand off to the diffusion model.</a:t>
            </a:r>
          </a:p>
          <a:p>
            <a:pPr>
              <a:spcAft>
                <a:spcPts val="800"/>
              </a:spcAft>
              <a:defRPr sz="2200">
                <a:solidFill>
                  <a:srgbClr val="444444"/>
                </a:solidFill>
              </a:defRPr>
            </a:pPr>
            <a:r>
              <a:t>Evaluate against AR only, sync SD, async SSD with an AR drafter, and SGLang and vLLM speculative decoding servers.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B1F3A"/>
                </a:solidFill>
              </a:defRPr>
            </a:pPr>
            <a:r>
              <a:t>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73152"/>
          </a:xfrm>
          <a:prstGeom prst="rect">
            <a:avLst/>
          </a:prstGeom>
          <a:solidFill>
            <a:srgbClr val="C81D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i="1">
                <a:solidFill>
                  <a:srgbClr val="AAAAAA"/>
                </a:solidFill>
              </a:defRPr>
            </a:pPr>
            <a:r>
              <a:t>[ results to be added 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